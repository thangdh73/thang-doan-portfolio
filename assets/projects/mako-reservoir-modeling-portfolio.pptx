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4"/>
    <p:sldId id="258" r:id="rId15"/>
    <p:sldId id="259" r:id="rId16"/>
    <p:sldId id="260" r:id="rId17"/>
    <p:sldId id="261" r:id="rId18"/>
    <p:sldId id="262" r:id="rId19"/>
  </p:sldIdLst>
  <p:sldSz cx="12192000" cy="6858000" type="screen4x3"/>
  <p:notesSz cx="6858000" cy="9144000"/>
  <p:embeddedFontLst>
    <p:embeddedFont>
      <p:font typeface="Space Grotesk" pitchFamily="2" charset="0"/>
      <p:regular r:id="rId9"/>
      <p:bold r:id="rId8"/>
    </p:embeddedFont>
    <p:embeddedFont>
      <p:font typeface="DM Sans" pitchFamily="2" charset="0"/>
      <p:regular r:id="rId13"/>
      <p:bold r:id="rId10"/>
      <p:italic r:id="rId12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Legacy Baseline</c:v>
                </c:pt>
              </c:strCache>
            </c:strRef>
          </c:tx>
          <c:spPr>
            <a:solidFill>
              <a:srgbClr val="334E68">
                <a:alpha val="85000"/>
              </a:srgbClr>
            </a:solidFill>
            <a:ln w="12700">
              <a:solidFill>
                <a:srgbClr val="334E68">
                  <a:alpha val="100000"/>
                </a:srgbClr>
              </a:solidFill>
            </a:ln>
          </c:spPr>
          <c:cat>
            <c:strRef>
              <c:f>Sheet1!$A$2:$A$7</c:f>
              <c:strCache>
                <c:ptCount val="6"/>
                <c:pt idx="0">
                  <c:v>Total Field</c:v>
                </c:pt>
                <c:pt idx="1">
                  <c:v>Muda Sand1</c:v>
                </c:pt>
                <c:pt idx="2">
                  <c:v>Sand1–Sand2</c:v>
                </c:pt>
                <c:pt idx="3">
                  <c:v>Muda Sand2</c:v>
                </c:pt>
                <c:pt idx="4">
                  <c:v>Inside Boundary
Sand1</c:v>
                </c:pt>
                <c:pt idx="5">
                  <c:v>Outside Boundary
Sand1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Updated Model</c:v>
                </c:pt>
              </c:strCache>
            </c:strRef>
          </c:tx>
          <c:spPr>
            <a:solidFill>
              <a:srgbClr val="00C9B1">
                <a:alpha val="82000"/>
              </a:srgbClr>
            </a:solidFill>
            <a:ln w="12700">
              <a:solidFill>
                <a:srgbClr val="00C9B1">
                  <a:alpha val="100000"/>
                </a:srgbClr>
              </a:solidFill>
            </a:ln>
          </c:spPr>
          <c:cat>
            <c:strRef>
              <c:f>Sheet1!$A$2:$A$7</c:f>
              <c:strCache>
                <c:ptCount val="6"/>
                <c:pt idx="0">
                  <c:v>Total Field</c:v>
                </c:pt>
                <c:pt idx="1">
                  <c:v>Muda Sand1</c:v>
                </c:pt>
                <c:pt idx="2">
                  <c:v>Sand1–Sand2</c:v>
                </c:pt>
                <c:pt idx="3">
                  <c:v>Muda Sand2</c:v>
                </c:pt>
                <c:pt idx="4">
                  <c:v>Inside Boundary
Sand1</c:v>
                </c:pt>
                <c:pt idx="5">
                  <c:v>Outside Boundary
Sand1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</c:v>
                </c:pt>
                <c:pt idx="1">
                  <c:v>108</c:v>
                </c:pt>
                <c:pt idx="2">
                  <c:v>98</c:v>
                </c:pt>
                <c:pt idx="3">
                  <c:v>100</c:v>
                </c:pt>
                <c:pt idx="4">
                  <c:v>103</c:v>
                </c:pt>
                <c:pt idx="5">
                  <c:v>149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94A3B8"/>
                </a:solidFill>
                <a:latin typeface="DM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5.0"/>
          <c:min val="80.0"/>
        </c:scaling>
        <c:delete val="0"/>
        <c:axPos val="l"/>
        <c:majorGridlines>
          <c:spPr>
            <a:ln w="12700">
              <a:solidFill>
                <a:srgbClr val="FFFFFF">
                  <a:alpha val="5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25">
                    <a:solidFill>
                      <a:srgbClr val="64748B"/>
                    </a:solidFill>
                    <a:latin typeface="DM Sans"/>
                  </a:rPr>
                  <a:t>Relative Volume (Legacy = 100%)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94A3B8"/>
                </a:solidFill>
                <a:latin typeface="DM Sa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Relationship Id="rId18" Type="http://schemas.openxmlformats.org/officeDocument/2006/relationships/image" Target="../media/image78.png"/><Relationship Id="rId19" Type="http://schemas.openxmlformats.org/officeDocument/2006/relationships/image" Target="../media/image79.png"/><Relationship Id="rId20" Type="http://schemas.openxmlformats.org/officeDocument/2006/relationships/image" Target="../media/image80.png"/><Relationship Id="rId21" Type="http://schemas.openxmlformats.org/officeDocument/2006/relationships/image" Target="../media/image81.png"/><Relationship Id="rId22" Type="http://schemas.openxmlformats.org/officeDocument/2006/relationships/image" Target="../media/image82.png"/><Relationship Id="rId23" Type="http://schemas.openxmlformats.org/officeDocument/2006/relationships/image" Target="../media/image83.png"/><Relationship Id="rId24" Type="http://schemas.openxmlformats.org/officeDocument/2006/relationships/image" Target="../media/image84.png"/><Relationship Id="rId25" Type="http://schemas.openxmlformats.org/officeDocument/2006/relationships/image" Target="../media/image85.png"/><Relationship Id="rId26" Type="http://schemas.openxmlformats.org/officeDocument/2006/relationships/image" Target="../media/image86.png"/><Relationship Id="rId27" Type="http://schemas.openxmlformats.org/officeDocument/2006/relationships/image" Target="../media/image87.png"/><Relationship Id="rId28" Type="http://schemas.openxmlformats.org/officeDocument/2006/relationships/image" Target="../media/image88.png"/><Relationship Id="rId29" Type="http://schemas.openxmlformats.org/officeDocument/2006/relationships/image" Target="../media/image8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0.png"/><Relationship Id="rId4" Type="http://schemas.openxmlformats.org/officeDocument/2006/relationships/image" Target="../media/image69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Relationship Id="rId15" Type="http://schemas.openxmlformats.org/officeDocument/2006/relationships/image" Target="../media/image101.png"/><Relationship Id="rId16" Type="http://schemas.openxmlformats.org/officeDocument/2006/relationships/image" Target="../media/image102.png"/><Relationship Id="rId17" Type="http://schemas.openxmlformats.org/officeDocument/2006/relationships/image" Target="../media/image103.png"/><Relationship Id="rId18" Type="http://schemas.openxmlformats.org/officeDocument/2006/relationships/image" Target="../media/image104.png"/><Relationship Id="rId19" Type="http://schemas.openxmlformats.org/officeDocument/2006/relationships/image" Target="../media/image105.png"/><Relationship Id="rId20" Type="http://schemas.openxmlformats.org/officeDocument/2006/relationships/image" Target="../media/image106.png"/><Relationship Id="rId21" Type="http://schemas.openxmlformats.org/officeDocument/2006/relationships/image" Target="../media/image89.png"/><Relationship Id="rId22" Type="http://schemas.openxmlformats.org/officeDocument/2006/relationships/image" Target="../media/image107.png"/><Relationship Id="rId23" Type="http://schemas.openxmlformats.org/officeDocument/2006/relationships/image" Target="../media/image67.png"/><Relationship Id="rId24" Type="http://schemas.openxmlformats.org/officeDocument/2006/relationships/image" Target="../media/image10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Relationship Id="rId10" Type="http://schemas.openxmlformats.org/officeDocument/2006/relationships/image" Target="../media/image127.png"/><Relationship Id="rId11" Type="http://schemas.openxmlformats.org/officeDocument/2006/relationships/image" Target="../media/image128.png"/><Relationship Id="rId12" Type="http://schemas.openxmlformats.org/officeDocument/2006/relationships/image" Target="../media/image129.png"/><Relationship Id="rId13" Type="http://schemas.openxmlformats.org/officeDocument/2006/relationships/image" Target="../media/image11.png"/><Relationship Id="rId14" Type="http://schemas.openxmlformats.org/officeDocument/2006/relationships/image" Target="../media/image130.png"/><Relationship Id="rId15" Type="http://schemas.openxmlformats.org/officeDocument/2006/relationships/image" Target="../media/image131.png"/><Relationship Id="rId16" Type="http://schemas.openxmlformats.org/officeDocument/2006/relationships/image" Target="../media/image132.png"/><Relationship Id="rId17" Type="http://schemas.openxmlformats.org/officeDocument/2006/relationships/image" Target="../media/image133.png"/><Relationship Id="rId18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810000"/>
            <a:ext cx="2857500" cy="2857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762000"/>
            <a:ext cx="2667000" cy="2667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47625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0761" y="342900"/>
            <a:ext cx="112543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94A3B8"/>
                </a:solidFill>
                <a:latin typeface="DM Sans"/>
              </a:rPr>
              <a:t>FEATURED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463" y="723900"/>
            <a:ext cx="103673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0C9B1"/>
                </a:solidFill>
                <a:latin typeface="DM Sans"/>
              </a:rPr>
              <a:t>Model Update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8482" y="495300"/>
            <a:ext cx="173771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0F4F8">
                    <a:alpha val="90000"/>
                  </a:srgbClr>
                </a:solidFill>
                <a:latin typeface="Space Grotesk"/>
              </a:rPr>
              <a:t>Conrad Mako Gas Field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552825"/>
            <a:ext cx="132397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" y="360997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5124450"/>
            <a:ext cx="762000" cy="285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8677" y="3623369"/>
            <a:ext cx="75530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C9B1"/>
                </a:solidFill>
                <a:latin typeface="DM Sans"/>
              </a:rPr>
              <a:t>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5794"/>
            <a:ext cx="4284464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Reservoir Geologist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78684"/>
            <a:ext cx="3638996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&amp; Static Modeler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24475"/>
            <a:ext cx="512055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94A3B8"/>
                </a:solidFill>
                <a:latin typeface="DM Sans"/>
              </a:rPr>
              <a:t>Conrad Mako Gas Field </a:t>
            </a:r>
            <a:r>
              <a:rPr sz="1380" b="0" i="0">
                <a:solidFill>
                  <a:srgbClr val="00C9B1">
                    <a:alpha val="70000"/>
                  </a:srgbClr>
                </a:solidFill>
                <a:latin typeface="Microsoft YaHei"/>
              </a:rPr>
              <a:t>·</a:t>
            </a:r>
            <a:r>
              <a:rPr sz="1380" b="0" i="0">
                <a:solidFill>
                  <a:srgbClr val="94A3B8"/>
                </a:solidFill>
                <a:latin typeface="DM Sans"/>
              </a:rPr>
              <a:t>Petrel </a:t>
            </a:r>
            <a:r>
              <a:rPr sz="1380" b="0" i="0">
                <a:solidFill>
                  <a:srgbClr val="00C9B1">
                    <a:alpha val="70000"/>
                  </a:srgbClr>
                </a:solidFill>
                <a:latin typeface="Microsoft YaHei"/>
              </a:rPr>
              <a:t>·</a:t>
            </a:r>
            <a:r>
              <a:rPr sz="1380" b="0" i="0">
                <a:solidFill>
                  <a:srgbClr val="94A3B8"/>
                </a:solidFill>
                <a:latin typeface="DM Sans"/>
              </a:rPr>
              <a:t>3D Seismic </a:t>
            </a:r>
            <a:r>
              <a:rPr sz="1380" b="0" i="0">
                <a:solidFill>
                  <a:srgbClr val="00C9B1">
                    <a:alpha val="70000"/>
                  </a:srgbClr>
                </a:solidFill>
                <a:latin typeface="Microsoft YaHei"/>
              </a:rPr>
              <a:t>·</a:t>
            </a:r>
            <a:r>
              <a:rPr sz="1380" b="0" i="0">
                <a:solidFill>
                  <a:srgbClr val="94A3B8"/>
                </a:solidFill>
                <a:latin typeface="DM Sans"/>
              </a:rPr>
              <a:t>AI Inversion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5800725"/>
            <a:ext cx="2162175" cy="523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25" y="5924550"/>
            <a:ext cx="285750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550" y="6000750"/>
            <a:ext cx="123825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6825" y="5895975"/>
            <a:ext cx="1374576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Space Grotesk"/>
              </a:rPr>
              <a:t>116 km² 3D Seismic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6825" y="6088260"/>
            <a:ext cx="128587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94A3B8"/>
                </a:solidFill>
                <a:latin typeface="DM Sans"/>
              </a:rPr>
              <a:t>NEW DATA INTEGRATED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71800" y="5800725"/>
            <a:ext cx="2133600" cy="523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71825" y="5924550"/>
            <a:ext cx="285750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57550" y="6000750"/>
            <a:ext cx="123825" cy="1333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55801" y="5895975"/>
            <a:ext cx="616446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Space Grotesk"/>
              </a:rPr>
              <a:t>GIIP +6%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5801" y="6088260"/>
            <a:ext cx="134897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94A3B8"/>
                </a:solidFill>
                <a:latin typeface="DM Sans"/>
              </a:rPr>
              <a:t>SIGNIFICANT GIIP UPLIFT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8750" y="5800725"/>
            <a:ext cx="2200275" cy="523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38775" y="5924550"/>
            <a:ext cx="285750" cy="2857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24500" y="5991225"/>
            <a:ext cx="123825" cy="1428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19179" y="5895975"/>
            <a:ext cx="1078110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Space Grotesk"/>
              </a:rPr>
              <a:t>6-Well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9179" y="6088260"/>
            <a:ext cx="1411783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94A3B8"/>
                </a:solidFill>
                <a:latin typeface="DM Sans"/>
              </a:rPr>
              <a:t>MAKO FIELD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-1143000"/>
            <a:ext cx="40005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0" y="4572000"/>
            <a:ext cx="3048000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533400" cy="28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3330"/>
            <a:ext cx="4278510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Core Competencies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4800"/>
            <a:ext cx="184412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C9B1"/>
                </a:solidFill>
                <a:latin typeface="Space Grotesk"/>
              </a:rPr>
              <a:t>CONRAD MAKO GAS FIELD </a:t>
            </a:r>
            <a:r>
              <a:rPr sz="900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900" b="1" i="0">
                <a:solidFill>
                  <a:srgbClr val="00C9B1"/>
                </a:solidFill>
                <a:latin typeface="Space Grotesk"/>
              </a:rPr>
              <a:t>PETREL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38350"/>
            <a:ext cx="3657600" cy="1876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2219325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31457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3562350"/>
            <a:ext cx="1704975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8535" y="2701528"/>
            <a:ext cx="177403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0F4F8"/>
                </a:solidFill>
                <a:latin typeface="Space Grotesk"/>
              </a:rPr>
              <a:t>3D Seismic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535" y="2964656"/>
            <a:ext cx="3169419" cy="505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DM Sans"/>
              </a:rPr>
              <a:t>Interpreted reservoir tops and bases in Two-Way Time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(TWT), then applied depth conversion across 116 km² of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new 3D seismic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326" y="3593008"/>
            <a:ext cx="153278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C9B1"/>
                </a:solidFill>
                <a:latin typeface="DM Sans"/>
              </a:rPr>
              <a:t>SEISMIC </a:t>
            </a:r>
            <a:r>
              <a:rPr sz="816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00C9B1"/>
                </a:solidFill>
                <a:latin typeface="DM Sans"/>
              </a:rPr>
              <a:t>TWT </a:t>
            </a:r>
            <a:r>
              <a:rPr sz="816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00C9B1"/>
                </a:solidFill>
                <a:latin typeface="DM Sans"/>
              </a:rPr>
              <a:t>DEPTH CONV.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2038350"/>
            <a:ext cx="3657600" cy="18764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6750" y="2219325"/>
            <a:ext cx="400050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1050" y="2314575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6750" y="3562350"/>
            <a:ext cx="1933575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78535" y="2701528"/>
            <a:ext cx="155450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0F4F8"/>
                </a:solidFill>
                <a:latin typeface="Space Grotesk"/>
              </a:rPr>
              <a:t>Petrel Static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8535" y="2964656"/>
            <a:ext cx="3310806" cy="505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DM Sans"/>
              </a:rPr>
              <a:t>Executed full reservoir model update in Petrel following the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Three60 standard workflow, integrating new structural and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property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326" y="3593008"/>
            <a:ext cx="176495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59E0B"/>
                </a:solidFill>
                <a:latin typeface="DM Sans"/>
              </a:rPr>
              <a:t>PETREL </a:t>
            </a:r>
            <a:r>
              <a:rPr sz="816" b="1" i="0">
                <a:solidFill>
                  <a:srgbClr val="F59E0B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F59E0B"/>
                </a:solidFill>
                <a:latin typeface="DM Sans"/>
              </a:rPr>
              <a:t>THREE60 </a:t>
            </a:r>
            <a:r>
              <a:rPr sz="816" b="1" i="0">
                <a:solidFill>
                  <a:srgbClr val="F59E0B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F59E0B"/>
                </a:solidFill>
                <a:latin typeface="DM Sans"/>
              </a:rPr>
              <a:t>STRUCTURAL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2038350"/>
            <a:ext cx="3657600" cy="18764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0" y="2219325"/>
            <a:ext cx="400050" cy="4000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1050" y="2324100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6750" y="3562350"/>
            <a:ext cx="1428750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8535" y="2701528"/>
            <a:ext cx="1905595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0F4F8"/>
                </a:solidFill>
                <a:latin typeface="Space Grotesk"/>
              </a:rPr>
              <a:t>Facies &amp; Property Modeling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535" y="2964656"/>
            <a:ext cx="3255442" cy="505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DM Sans"/>
              </a:rPr>
              <a:t>Applied AI-guided Sequential Indicator Simulation (SIS) to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model facies distribution and populate reservoir property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grids.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2326" y="3593008"/>
            <a:ext cx="126236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C9B1"/>
                </a:solidFill>
                <a:latin typeface="DM Sans"/>
              </a:rPr>
              <a:t>SIS </a:t>
            </a:r>
            <a:r>
              <a:rPr sz="816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00C9B1"/>
                </a:solidFill>
                <a:latin typeface="DM Sans"/>
              </a:rPr>
              <a:t>AI-GUIDED </a:t>
            </a:r>
            <a:r>
              <a:rPr sz="816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00C9B1"/>
                </a:solidFill>
                <a:latin typeface="DM Sans"/>
              </a:rPr>
              <a:t>FACIES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14575" y="4057650"/>
            <a:ext cx="3714750" cy="18764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125" y="4238625"/>
            <a:ext cx="400050" cy="4000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19375" y="4343400"/>
            <a:ext cx="209550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24125" y="5581650"/>
            <a:ext cx="166687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522785" y="4726930"/>
            <a:ext cx="151432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0F4F8"/>
                </a:solidFill>
                <a:latin typeface="Space Grotesk"/>
              </a:rPr>
              <a:t>Seismic AI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2785" y="4990058"/>
            <a:ext cx="2984873" cy="505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DM Sans"/>
              </a:rPr>
              <a:t>Merged 3D Acoustic Impedance (AI) with legacy 2D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Pseudo AI after rebalancing, ensuring seamless data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continuity across the full field extent.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575" y="5618410"/>
            <a:ext cx="149646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C9B1"/>
                </a:solidFill>
                <a:latin typeface="DM Sans"/>
              </a:rPr>
              <a:t>AI INVERSION </a:t>
            </a:r>
            <a:r>
              <a:rPr sz="816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00C9B1"/>
                </a:solidFill>
                <a:latin typeface="DM Sans"/>
              </a:rPr>
              <a:t>2D/3D MERGE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4057650"/>
            <a:ext cx="3714750" cy="18764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0" y="4238625"/>
            <a:ext cx="400050" cy="4000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6050" y="4343400"/>
            <a:ext cx="171450" cy="1809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81750" y="5581650"/>
            <a:ext cx="1914525" cy="171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83387" y="4726930"/>
            <a:ext cx="182671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0F4F8"/>
                </a:solidFill>
                <a:latin typeface="Space Grotesk"/>
              </a:rPr>
              <a:t>GIIP Volumetric Estimation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3387" y="4990058"/>
            <a:ext cx="2984426" cy="505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DM Sans"/>
              </a:rPr>
              <a:t>Ran best-estimate volumetric workflow delivering a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measurable uplift in gas-in-place, reflecting improved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 structural mapping and AI-guided facies quality.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7177" y="5618410"/>
            <a:ext cx="174486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59E0B"/>
                </a:solidFill>
                <a:latin typeface="DM Sans"/>
              </a:rPr>
              <a:t>GIIP </a:t>
            </a:r>
            <a:r>
              <a:rPr sz="816" b="1" i="0">
                <a:solidFill>
                  <a:srgbClr val="F59E0B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F59E0B"/>
                </a:solidFill>
                <a:latin typeface="DM Sans"/>
              </a:rPr>
              <a:t>VOLUMETRICS </a:t>
            </a:r>
            <a:r>
              <a:rPr sz="816" b="1" i="0">
                <a:solidFill>
                  <a:srgbClr val="F59E0B"/>
                </a:solidFill>
                <a:latin typeface="Microsoft YaHei"/>
              </a:rPr>
              <a:t>· </a:t>
            </a:r>
            <a:r>
              <a:rPr sz="816" b="1" i="0">
                <a:solidFill>
                  <a:srgbClr val="F59E0B"/>
                </a:solidFill>
                <a:latin typeface="DM Sans"/>
              </a:rPr>
              <a:t>+6% UPLIFT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445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104775"/>
            <a:ext cx="228600" cy="19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5724525"/>
            <a:ext cx="6162675" cy="1209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525" y="613410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6229350"/>
            <a:ext cx="171450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63530" y="27086"/>
            <a:ext cx="137130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3" b="0" i="0">
                <a:solidFill>
                  <a:srgbClr val="00C9B1"/>
                </a:solidFill>
                <a:latin typeface="DM Sans"/>
              </a:rPr>
              <a:t>FEATURED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9680" y="246757"/>
            <a:ext cx="3119139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Conrad </a:t>
            </a:r>
            <a:r>
              <a:rPr sz="3600" b="1" i="0">
                <a:solidFill>
                  <a:srgbClr val="00C9B1"/>
                </a:solidFill>
                <a:latin typeface="Space Grotesk"/>
              </a:rPr>
              <a:t> Mako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9680" y="726727"/>
            <a:ext cx="1963787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Gas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9680" y="1330523"/>
            <a:ext cx="426705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94A3B8"/>
                </a:solidFill>
                <a:latin typeface="DM Sans"/>
              </a:rPr>
              <a:t>Model Update 2023 </a:t>
            </a:r>
            <a:r>
              <a:rPr sz="1368" b="0" i="0">
                <a:solidFill>
                  <a:srgbClr val="94A3B8"/>
                </a:solidFill>
                <a:latin typeface="Microsoft YaHei"/>
              </a:rPr>
              <a:t>— </a:t>
            </a:r>
            <a:r>
              <a:rPr sz="1368" b="0" i="0">
                <a:solidFill>
                  <a:srgbClr val="94A3B8"/>
                </a:solidFill>
                <a:latin typeface="DM Sans"/>
              </a:rPr>
              <a:t>SW Area 3D Seismic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055" y="5882580"/>
            <a:ext cx="181897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00C9B1"/>
                </a:solidFill>
                <a:latin typeface="DM Sans"/>
              </a:rPr>
              <a:t>KEY OUTCOME </a:t>
            </a:r>
            <a:r>
              <a:rPr sz="972" b="1" i="0">
                <a:solidFill>
                  <a:srgbClr val="00C9B1"/>
                </a:solidFill>
                <a:latin typeface="Microsoft YaHei"/>
              </a:rPr>
              <a:t>— </a:t>
            </a:r>
            <a:r>
              <a:rPr sz="972" b="1" i="0">
                <a:solidFill>
                  <a:srgbClr val="00C9B1"/>
                </a:solidFill>
                <a:latin typeface="DM Sans"/>
              </a:rPr>
              <a:t>GIIP UPLIFT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055" y="6067573"/>
            <a:ext cx="5048436" cy="7090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F0F4F8"/>
                </a:solidFill>
                <a:latin typeface="Space Grotesk"/>
              </a:rPr>
              <a:t>Gas Initially In Place recorded a </a:t>
            </a:r>
            <a:r>
              <a:rPr sz="1425" b="1" i="0">
                <a:solidFill>
                  <a:srgbClr val="00C9B1"/>
                </a:solidFill>
                <a:latin typeface="Space Grotesk"/>
              </a:rPr>
              <a:t> +6% uplift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 following the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 updated structural model, confirming improved resource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 estimation across all reservoir zones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375" y="0"/>
            <a:ext cx="4248150" cy="285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3550" y="1695450"/>
            <a:ext cx="6162675" cy="933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525" y="181927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0725" y="1895475"/>
            <a:ext cx="16192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58805" y="1829097"/>
            <a:ext cx="148664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94A3B8"/>
                </a:solidFill>
                <a:latin typeface="DM Sans"/>
              </a:rPr>
              <a:t>3D SEISMIC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8805" y="2020341"/>
            <a:ext cx="5242211" cy="48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F0F4F8"/>
                </a:solidFill>
                <a:latin typeface="Space Grotesk"/>
              </a:rPr>
              <a:t>116 km² of new 3D seismic data integrated into the SW area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 with full inversion analysis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3550" y="2686050"/>
            <a:ext cx="6162675" cy="933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4525" y="2809875"/>
            <a:ext cx="3048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0" y="2886075"/>
            <a:ext cx="1428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58805" y="2823418"/>
            <a:ext cx="133543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94A3B8"/>
                </a:solidFill>
                <a:latin typeface="DM Sans"/>
              </a:rPr>
              <a:t>STRUCTURE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8805" y="3014662"/>
            <a:ext cx="5434050" cy="48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F0F4F8"/>
                </a:solidFill>
                <a:latin typeface="Space Grotesk"/>
              </a:rPr>
              <a:t>Reservoir found up to 12m shallower than legacy 2D mapping</a:t>
            </a:r>
            <a:r>
              <a:rPr sz="1425" b="1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significant structural revision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3550" y="3686175"/>
            <a:ext cx="6162675" cy="933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24525" y="3810000"/>
            <a:ext cx="3048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19775" y="3886200"/>
            <a:ext cx="123825" cy="1428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58805" y="3817739"/>
            <a:ext cx="130001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94A3B8"/>
                </a:solidFill>
                <a:latin typeface="DM Sans"/>
              </a:rPr>
              <a:t>2D / 3D DATA 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8805" y="4008983"/>
            <a:ext cx="5441492" cy="48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F0F4F8"/>
                </a:solidFill>
                <a:latin typeface="Space Grotesk"/>
              </a:rPr>
              <a:t>3D AI merged with 2D Pseudo AI after rebalancing </a:t>
            </a:r>
            <a:r>
              <a:rPr sz="1425" b="1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seamless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 integration in Petrel reference project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43550" y="4676775"/>
            <a:ext cx="6162675" cy="933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24525" y="4800600"/>
            <a:ext cx="304800" cy="3048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10250" y="4876800"/>
            <a:ext cx="142875" cy="1428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58805" y="4812059"/>
            <a:ext cx="185186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94A3B8"/>
                </a:solidFill>
                <a:latin typeface="DM Sans"/>
              </a:rPr>
              <a:t>WELL DATASET FOUNDATION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8805" y="5003303"/>
            <a:ext cx="4684105" cy="48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F0F4F8"/>
                </a:solidFill>
                <a:latin typeface="Space Grotesk"/>
              </a:rPr>
              <a:t>6-well dataset underpins the static model </a:t>
            </a:r>
            <a:r>
              <a:rPr sz="1425" b="1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all wells</a:t>
            </a:r>
            <a:r>
              <a:rPr sz="1425" b="1" i="0">
                <a:solidFill>
                  <a:srgbClr val="F0F4F8"/>
                </a:solidFill>
                <a:latin typeface="Space Grotesk"/>
              </a:rPr>
              <a:t> originally drilled on 2D seismic interpretation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76575" y="0"/>
            <a:ext cx="2057400" cy="68580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4800600"/>
            <a:ext cx="5124450" cy="2057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600" y="6305550"/>
            <a:ext cx="1971675" cy="3333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1475" y="6391275"/>
            <a:ext cx="133350" cy="1428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77155" y="6390530"/>
            <a:ext cx="147220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00C9B1"/>
                </a:solidFill>
                <a:latin typeface="DM Sans"/>
              </a:rPr>
              <a:t>PETREL STATIC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445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-952500"/>
            <a:ext cx="2857500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5524500"/>
            <a:ext cx="19050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950" y="0"/>
            <a:ext cx="5715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715000"/>
            <a:ext cx="5124450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" y="643890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900" y="6514355"/>
            <a:ext cx="263143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F0F4F8"/>
                </a:solidFill>
                <a:latin typeface="DM Sans"/>
              </a:rPr>
              <a:t>3D SEISMIC VOLUME </a:t>
            </a:r>
            <a:r>
              <a:rPr sz="1004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004" b="0" i="0">
                <a:solidFill>
                  <a:srgbClr val="F0F4F8"/>
                </a:solidFill>
                <a:latin typeface="DM Sans"/>
              </a:rPr>
              <a:t>AREA A (115.4 KM²)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3550" y="419100"/>
            <a:ext cx="61531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7375" y="457200"/>
            <a:ext cx="1428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3550" y="5753100"/>
            <a:ext cx="6162675" cy="800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82580" y="447675"/>
            <a:ext cx="173176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0" i="0">
                <a:solidFill>
                  <a:srgbClr val="00C9B1"/>
                </a:solidFill>
                <a:latin typeface="DM Sans"/>
              </a:rPr>
              <a:t>SUBSURFACE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9680" y="676572"/>
            <a:ext cx="4908053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Seismic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9680" y="1170235"/>
            <a:ext cx="3374231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C9B1"/>
                </a:solidFill>
                <a:latin typeface="Space Grotesk"/>
              </a:rPr>
              <a:t>&amp; AI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2650" y="5855493"/>
            <a:ext cx="165154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00C9B1"/>
                </a:solidFill>
                <a:latin typeface="DM Sans"/>
              </a:rPr>
              <a:t>TECHNICAL 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2650" y="6075312"/>
            <a:ext cx="5060727" cy="3635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F0F4F8"/>
                </a:solidFill>
                <a:latin typeface="DM Sans"/>
              </a:rPr>
              <a:t>3D Seismic Area:</a:t>
            </a:r>
            <a:r>
              <a:rPr sz="1134" b="0" i="0">
                <a:solidFill>
                  <a:srgbClr val="94A3B8"/>
                </a:solidFill>
                <a:latin typeface="DM Sans"/>
              </a:rPr>
              <a:t> 115.405 km² (Area A) | </a:t>
            </a:r>
            <a:r>
              <a:rPr sz="1134" b="1" i="0">
                <a:solidFill>
                  <a:srgbClr val="F0F4F8"/>
                </a:solidFill>
                <a:latin typeface="DM Sans"/>
              </a:rPr>
              <a:t> Method:</a:t>
            </a:r>
            <a:r>
              <a:rPr sz="1134" b="0" i="0">
                <a:solidFill>
                  <a:srgbClr val="94A3B8"/>
                </a:solidFill>
                <a:latin typeface="DM Sans"/>
              </a:rPr>
              <a:t> Moving average for 2D AI</a:t>
            </a:r>
            <a:r>
              <a:rPr sz="1134" b="0" i="0">
                <a:solidFill>
                  <a:srgbClr val="94A3B8"/>
                </a:solidFill>
                <a:latin typeface="DM Sans"/>
              </a:rPr>
              <a:t> population | </a:t>
            </a:r>
            <a:r>
              <a:rPr sz="1134" b="1" i="0">
                <a:solidFill>
                  <a:srgbClr val="F0F4F8"/>
                </a:solidFill>
                <a:latin typeface="DM Sans"/>
              </a:rPr>
              <a:t> Output:</a:t>
            </a:r>
            <a:r>
              <a:rPr sz="1134" b="0" i="0">
                <a:solidFill>
                  <a:srgbClr val="94A3B8"/>
                </a:solidFill>
                <a:latin typeface="DM Sans"/>
              </a:rPr>
              <a:t> Merged 3D + Pseudo AI dataset for facies guidance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3550" y="1847850"/>
            <a:ext cx="6162675" cy="904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05475" y="1943100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91200" y="2028825"/>
            <a:ext cx="171450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7855" y="1959173"/>
            <a:ext cx="489436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8" b="1" i="0">
                <a:solidFill>
                  <a:srgbClr val="F0F4F8"/>
                </a:solidFill>
                <a:latin typeface="Space Grotesk"/>
              </a:rPr>
              <a:t>TWT Interpretation </a:t>
            </a:r>
            <a:r>
              <a:rPr sz="1328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328" b="1" i="0">
                <a:solidFill>
                  <a:srgbClr val="F0F4F8"/>
                </a:solidFill>
                <a:latin typeface="Space Grotesk"/>
              </a:rPr>
              <a:t>Depth Conversion </a:t>
            </a:r>
            <a:r>
              <a:rPr sz="1328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328" b="1" i="0">
                <a:solidFill>
                  <a:srgbClr val="F0F4F8"/>
                </a:solidFill>
                <a:latin typeface="Space Grotesk"/>
              </a:rPr>
              <a:t>Legacy 2D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7855" y="2240905"/>
            <a:ext cx="5295552" cy="3765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>
                <a:solidFill>
                  <a:srgbClr val="94A3B8"/>
                </a:solidFill>
                <a:latin typeface="DM Sans"/>
              </a:rPr>
              <a:t>Reservoir tops and bases interpreted in 3D TWT domain, depth-converted, then</a:t>
            </a:r>
            <a:r>
              <a:rPr sz="1166" b="0" i="0">
                <a:solidFill>
                  <a:srgbClr val="94A3B8"/>
                </a:solidFill>
                <a:latin typeface="DM Sans"/>
              </a:rPr>
              <a:t> merged with existing 2D legacy interpretations for full-field coverage.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3075" y="1857375"/>
            <a:ext cx="28575" cy="885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3550" y="2819400"/>
            <a:ext cx="6162675" cy="914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05475" y="2914650"/>
            <a:ext cx="342900" cy="342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48500" y="3419475"/>
            <a:ext cx="1514475" cy="2190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58225" y="3419475"/>
            <a:ext cx="1314450" cy="2190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77855" y="2927300"/>
            <a:ext cx="226010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8" b="1" i="0">
                <a:solidFill>
                  <a:srgbClr val="F0F4F8"/>
                </a:solidFill>
                <a:latin typeface="Space Grotesk"/>
              </a:rPr>
              <a:t>AI Crossplot &amp; Histogram QC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7855" y="3209032"/>
            <a:ext cx="503753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>
                <a:solidFill>
                  <a:srgbClr val="94A3B8"/>
                </a:solidFill>
                <a:latin typeface="DM Sans"/>
              </a:rPr>
              <a:t>3D Acoustic Impedance rigorously compared with 2D AI using crossplots 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7855" y="3428404"/>
            <a:ext cx="80664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>
                <a:solidFill>
                  <a:srgbClr val="94A3B8"/>
                </a:solidFill>
                <a:latin typeface="DM Sans"/>
              </a:rPr>
              <a:t>histograms.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7853" y="3433167"/>
            <a:ext cx="135984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00C9B1"/>
                </a:solidFill>
                <a:latin typeface="DM Sans"/>
              </a:rPr>
              <a:t>Area A: No rebalancing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8471" y="3433167"/>
            <a:ext cx="116577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F59E0B"/>
                </a:solidFill>
                <a:latin typeface="DM Sans"/>
              </a:rPr>
              <a:t>Area B: Rebalanced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53075" y="2828925"/>
            <a:ext cx="28575" cy="8858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3550" y="3790950"/>
            <a:ext cx="6162675" cy="904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05475" y="3886200"/>
            <a:ext cx="342900" cy="3429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00725" y="3981450"/>
            <a:ext cx="152400" cy="1428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77855" y="3900189"/>
            <a:ext cx="278844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8" b="1" i="0">
                <a:solidFill>
                  <a:srgbClr val="F0F4F8"/>
                </a:solidFill>
                <a:latin typeface="Space Grotesk"/>
              </a:rPr>
              <a:t>Rebalancing 3D AI to 2D AI Overlap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7855" y="4181921"/>
            <a:ext cx="5127823" cy="3765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>
                <a:solidFill>
                  <a:srgbClr val="94A3B8"/>
                </a:solidFill>
                <a:latin typeface="DM Sans"/>
              </a:rPr>
              <a:t>3D Pseudo AI (derived from 2D) merged with 3D AI after rebalancing. Moving</a:t>
            </a:r>
            <a:r>
              <a:rPr sz="1166" b="0" i="0">
                <a:solidFill>
                  <a:srgbClr val="94A3B8"/>
                </a:solidFill>
                <a:latin typeface="DM Sans"/>
              </a:rPr>
              <a:t> average method applied for 2D AI population across the field.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53075" y="3800475"/>
            <a:ext cx="28575" cy="8858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3550" y="4752975"/>
            <a:ext cx="6162675" cy="904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05475" y="4848225"/>
            <a:ext cx="342900" cy="3429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91200" y="4943475"/>
            <a:ext cx="16192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96325" y="4867275"/>
            <a:ext cx="1181100" cy="21907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77855" y="4868316"/>
            <a:ext cx="245953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8" b="1" i="0">
                <a:solidFill>
                  <a:srgbClr val="F0F4F8"/>
                </a:solidFill>
                <a:latin typeface="Space Grotesk"/>
              </a:rPr>
              <a:t>Anomaly Detection &amp; Removal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0739" y="4906267"/>
            <a:ext cx="102855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E05C5C"/>
                </a:solidFill>
                <a:latin typeface="DM Sans"/>
              </a:rPr>
              <a:t>DYG-13 Excluded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7855" y="5150048"/>
            <a:ext cx="5400029" cy="3765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>
                <a:solidFill>
                  <a:srgbClr val="94A3B8"/>
                </a:solidFill>
                <a:latin typeface="DM Sans"/>
              </a:rPr>
              <a:t>DYG-13 identified as anomalous line and removed from the AI point set to ensure</a:t>
            </a:r>
            <a:r>
              <a:rPr sz="1166" b="0" i="0">
                <a:solidFill>
                  <a:srgbClr val="94A3B8"/>
                </a:solidFill>
                <a:latin typeface="DM Sans"/>
              </a:rPr>
              <a:t> data consistency and prevent bias in facies population.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53075" y="4762500"/>
            <a:ext cx="28575" cy="8858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86425" y="6048375"/>
            <a:ext cx="152400" cy="1905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24450" y="6838950"/>
            <a:ext cx="7077075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445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276225"/>
            <a:ext cx="61531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6048375"/>
            <a:ext cx="6162675" cy="619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525" y="6276975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3505" y="300483"/>
            <a:ext cx="162788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 i="0">
                <a:solidFill>
                  <a:srgbClr val="00C9B1"/>
                </a:solidFill>
                <a:latin typeface="DM Sans"/>
              </a:rPr>
              <a:t>STATIC MODEL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9680" y="519856"/>
            <a:ext cx="6022330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Facies &amp; Property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9680" y="1142702"/>
            <a:ext cx="501000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3" b="0" i="1">
                <a:solidFill>
                  <a:srgbClr val="94A3B8"/>
                </a:solidFill>
                <a:latin typeface="DM Sans"/>
              </a:rPr>
              <a:t>Three60 Standard Workflow </a:t>
            </a:r>
            <a:r>
              <a:rPr sz="1263" b="0" i="1">
                <a:solidFill>
                  <a:srgbClr val="94A3B8"/>
                </a:solidFill>
                <a:latin typeface="Microsoft YaHei"/>
              </a:rPr>
              <a:t>· </a:t>
            </a:r>
            <a:r>
              <a:rPr sz="1263" b="0" i="1">
                <a:solidFill>
                  <a:srgbClr val="94A3B8"/>
                </a:solidFill>
                <a:latin typeface="DM Sans"/>
              </a:rPr>
              <a:t>AI-Guided Simulation </a:t>
            </a:r>
            <a:r>
              <a:rPr sz="1263" b="0" i="1">
                <a:solidFill>
                  <a:srgbClr val="94A3B8"/>
                </a:solidFill>
                <a:latin typeface="Microsoft YaHei"/>
              </a:rPr>
              <a:t>· </a:t>
            </a:r>
            <a:r>
              <a:rPr sz="1263" b="0" i="1">
                <a:solidFill>
                  <a:srgbClr val="94A3B8"/>
                </a:solidFill>
                <a:latin typeface="DM Sans"/>
              </a:rPr>
              <a:t>Petrel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305" y="6181427"/>
            <a:ext cx="5516925" cy="3452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 i="0">
                <a:solidFill>
                  <a:srgbClr val="F0F4F8"/>
                </a:solidFill>
                <a:latin typeface="DM Sans"/>
              </a:rPr>
              <a:t>Model Scale:</a:t>
            </a:r>
            <a:r>
              <a:rPr sz="1085" b="0" i="0">
                <a:solidFill>
                  <a:srgbClr val="94A3B8"/>
                </a:solidFill>
                <a:latin typeface="DM Sans"/>
              </a:rPr>
              <a:t> Updated grid </a:t>
            </a:r>
            <a:r>
              <a:rPr sz="1085" b="0" i="0">
                <a:solidFill>
                  <a:srgbClr val="94A3B8"/>
                </a:solidFill>
                <a:latin typeface="Microsoft YaHei"/>
              </a:rPr>
              <a:t>— </a:t>
            </a:r>
            <a:r>
              <a:rPr sz="1085" b="0" i="0">
                <a:solidFill>
                  <a:srgbClr val="94A3B8"/>
                </a:solidFill>
                <a:latin typeface="DM Sans"/>
              </a:rPr>
              <a:t>610,634 total cells vs. 585,501 legacy | </a:t>
            </a:r>
            <a:r>
              <a:rPr sz="1085" b="1" i="0">
                <a:solidFill>
                  <a:srgbClr val="F0F4F8"/>
                </a:solidFill>
                <a:latin typeface="DM Sans"/>
              </a:rPr>
              <a:t> +4.3% cell count</a:t>
            </a:r>
            <a:r>
              <a:rPr sz="1085" b="0" i="0">
                <a:solidFill>
                  <a:srgbClr val="94A3B8"/>
                </a:solidFill>
                <a:latin typeface="DM Sans"/>
              </a:rPr>
              <a:t> driven by refined structural interpretation and AI-guided facies expansion.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3550" y="1600200"/>
            <a:ext cx="6162675" cy="1123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475" y="1724025"/>
            <a:ext cx="32385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1675" y="1809750"/>
            <a:ext cx="18097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58805" y="1735782"/>
            <a:ext cx="189190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3" b="1" i="0">
                <a:solidFill>
                  <a:srgbClr val="F0F4F8"/>
                </a:solidFill>
                <a:latin typeface="Space Grotesk"/>
              </a:rPr>
              <a:t>AI-Guided SIS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8805" y="2005012"/>
            <a:ext cx="5413923" cy="5581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0" i="0">
                <a:solidFill>
                  <a:srgbClr val="94A3B8"/>
                </a:solidFill>
                <a:latin typeface="DM Sans"/>
              </a:rPr>
              <a:t>Three60 workflow driven by seismic Acoustic Impedance </a:t>
            </a:r>
            <a:r>
              <a:rPr sz="1101" b="0" i="0">
                <a:solidFill>
                  <a:srgbClr val="94A3B8"/>
                </a:solidFill>
                <a:latin typeface="Microsoft YaHei"/>
              </a:rPr>
              <a:t>— 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lower AI values in 3D area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 increased proportion of </a:t>
            </a:r>
            <a:r>
              <a:rPr sz="1101" b="1" i="0">
                <a:solidFill>
                  <a:srgbClr val="F59E0B"/>
                </a:solidFill>
                <a:latin typeface="DM Sans"/>
              </a:rPr>
              <a:t> good-quality reservoir facies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 ; 2D area proportions remained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 stable.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3075" y="1609725"/>
            <a:ext cx="28575" cy="10953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3550" y="2847975"/>
            <a:ext cx="6162675" cy="914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5475" y="2971800"/>
            <a:ext cx="323850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81675" y="3048000"/>
            <a:ext cx="171450" cy="161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58805" y="2985045"/>
            <a:ext cx="199995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3" b="1" i="0">
                <a:solidFill>
                  <a:srgbClr val="F0F4F8"/>
                </a:solidFill>
                <a:latin typeface="Space Grotesk"/>
              </a:rPr>
              <a:t>Active Gas Zone Cells +4%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8805" y="3254275"/>
            <a:ext cx="5080845" cy="355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0" i="0">
                <a:solidFill>
                  <a:srgbClr val="94A3B8"/>
                </a:solidFill>
                <a:latin typeface="DM Sans"/>
              </a:rPr>
              <a:t>Updated model: </a:t>
            </a:r>
            <a:r>
              <a:rPr sz="1101" b="1" i="0">
                <a:solidFill>
                  <a:srgbClr val="F59E0B"/>
                </a:solidFill>
                <a:latin typeface="DM Sans"/>
              </a:rPr>
              <a:t> 303,863 active gas cells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 vs. legacy 291,739 </a:t>
            </a:r>
            <a:r>
              <a:rPr sz="1101" b="0" i="0">
                <a:solidFill>
                  <a:srgbClr val="94A3B8"/>
                </a:solidFill>
                <a:latin typeface="Microsoft YaHei"/>
              </a:rPr>
              <a:t>— 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a 4% volumetric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 increase reflecting improved facies quality and structural update.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2857500"/>
            <a:ext cx="28575" cy="895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3550" y="3895725"/>
            <a:ext cx="6162675" cy="914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05475" y="4019550"/>
            <a:ext cx="323850" cy="3238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81675" y="4095750"/>
            <a:ext cx="171450" cy="1619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58805" y="4031456"/>
            <a:ext cx="281180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3" b="1" i="0">
                <a:solidFill>
                  <a:srgbClr val="F0F4F8"/>
                </a:solidFill>
                <a:latin typeface="Space Grotesk"/>
              </a:rPr>
              <a:t>Porosity, Permeability &amp; Sw 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8805" y="4300686"/>
            <a:ext cx="4976070" cy="355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0" i="0">
                <a:solidFill>
                  <a:srgbClr val="94A3B8"/>
                </a:solidFill>
                <a:latin typeface="DM Sans"/>
              </a:rPr>
              <a:t>Full property model suite (Porosity, Permeability, Water Saturation) rebuilt using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 standard workflow and integrated into the Petrel reference project.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3075" y="3905250"/>
            <a:ext cx="28575" cy="895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3550" y="4943475"/>
            <a:ext cx="6162675" cy="914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05475" y="5067300"/>
            <a:ext cx="323850" cy="3238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91200" y="5143500"/>
            <a:ext cx="152400" cy="1619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58805" y="5077866"/>
            <a:ext cx="224358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3" b="1" i="0">
                <a:solidFill>
                  <a:srgbClr val="F0F4F8"/>
                </a:solidFill>
                <a:latin typeface="Space Grotesk"/>
              </a:rPr>
              <a:t>Water-to-Gas AI Substitution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8805" y="5347096"/>
            <a:ext cx="4878588" cy="355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0" i="0">
                <a:solidFill>
                  <a:srgbClr val="94A3B8"/>
                </a:solidFill>
                <a:latin typeface="DM Sans"/>
              </a:rPr>
              <a:t>AI substitution applied in paleo-gas and water leg zones to correctly represent</a:t>
            </a:r>
            <a:r>
              <a:rPr sz="1101" b="0" i="0">
                <a:solidFill>
                  <a:srgbClr val="94A3B8"/>
                </a:solidFill>
                <a:latin typeface="DM Sans"/>
              </a:rPr>
              <a:t> historical gas presence and improve property population accuracy.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53075" y="4953000"/>
            <a:ext cx="28575" cy="895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24450" y="6838950"/>
            <a:ext cx="7077075" cy="190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62450" y="0"/>
            <a:ext cx="762000" cy="68580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5715000"/>
            <a:ext cx="5124450" cy="11430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0500" y="6229350"/>
            <a:ext cx="2324100" cy="4476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14325" y="6397079"/>
            <a:ext cx="20748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00C9B1"/>
                </a:solidFill>
                <a:latin typeface="DM Sans"/>
              </a:rPr>
              <a:t>3D FACIES MODEL </a:t>
            </a:r>
            <a:r>
              <a:rPr sz="972" b="1" i="0">
                <a:solidFill>
                  <a:srgbClr val="00C9B1"/>
                </a:solidFill>
                <a:latin typeface="Microsoft YaHei"/>
              </a:rPr>
              <a:t>— </a:t>
            </a:r>
            <a:r>
              <a:rPr sz="972" b="1" i="0">
                <a:solidFill>
                  <a:srgbClr val="00C9B1"/>
                </a:solidFill>
                <a:latin typeface="DM Sans"/>
              </a:rPr>
              <a:t>MAKO FIELD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-952500"/>
            <a:ext cx="36195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323850"/>
            <a:ext cx="270510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150" y="419100"/>
            <a:ext cx="1428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6155"/>
            <a:ext cx="5572869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C9B1"/>
                </a:solidFill>
                <a:latin typeface="Space Grotesk"/>
              </a:rPr>
              <a:t>Volumetric Model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1592" y="401835"/>
            <a:ext cx="216128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C9B1"/>
                </a:solidFill>
                <a:latin typeface="Space Grotesk"/>
              </a:rPr>
              <a:t>Static Model Update </a:t>
            </a:r>
            <a:r>
              <a:rPr sz="1080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1080" b="1" i="0">
                <a:solidFill>
                  <a:srgbClr val="00C9B1"/>
                </a:solidFill>
                <a:latin typeface="Space Grotesk"/>
              </a:rPr>
              <a:t>Mako Field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52500"/>
            <a:ext cx="114300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0" y="952500"/>
            <a:ext cx="114300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638300"/>
            <a:ext cx="5448300" cy="895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2609850"/>
            <a:ext cx="5448300" cy="895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3581400"/>
            <a:ext cx="5448300" cy="895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4552950"/>
            <a:ext cx="5448300" cy="657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475" y="4676775"/>
            <a:ext cx="1619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5343525"/>
            <a:ext cx="5448300" cy="1085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5467350"/>
            <a:ext cx="85725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2370" y="948481"/>
            <a:ext cx="128751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DM Sans"/>
              </a:rPr>
              <a:t>Legacy Baseline (100%)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3653" y="948481"/>
            <a:ext cx="80560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DM Sans"/>
              </a:rPr>
              <a:t>Updated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193452"/>
            <a:ext cx="353005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Space Grotesk"/>
              </a:rPr>
              <a:t>GAS VOLUME CHANGE BY ZONE (INDEXED TO LEGACY = 100%)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451371"/>
            <a:ext cx="2698849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1">
                <a:solidFill>
                  <a:srgbClr val="94A3B8"/>
                </a:solidFill>
                <a:latin typeface="DM Sans"/>
              </a:rPr>
              <a:t>Y-axis shows relative change vs. legacy model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1154162"/>
            <a:ext cx="1407616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0F4F8"/>
                </a:solidFill>
                <a:latin typeface="Space Grotesk"/>
              </a:rPr>
              <a:t>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1757808"/>
            <a:ext cx="5098897" cy="6405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1" i="0">
                <a:solidFill>
                  <a:srgbClr val="00C9B1"/>
                </a:solidFill>
                <a:latin typeface="DM Sans"/>
              </a:rPr>
              <a:t>+6% Total Field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</a:t>
            </a:r>
            <a:r>
              <a:rPr sz="1231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Field-wide gas volume increased across all zones,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confirming the updated model delivers a stronger resource estimate than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the legacy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2728019"/>
            <a:ext cx="4708224" cy="6405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1" i="0">
                <a:solidFill>
                  <a:srgbClr val="00C9B1"/>
                </a:solidFill>
                <a:latin typeface="DM Sans"/>
              </a:rPr>
              <a:t>+8% Primary Reservoir Zone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</a:t>
            </a:r>
            <a:r>
              <a:rPr sz="1231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The main producing zone (Muda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Sand1) recorded the largest absolute uplift, driven by the shallower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updated structure.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3698230"/>
            <a:ext cx="5064816" cy="6405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1" i="0">
                <a:solidFill>
                  <a:srgbClr val="F59E0B"/>
                </a:solidFill>
                <a:latin typeface="DM Sans"/>
              </a:rPr>
              <a:t>+49% Upside Outside Boundary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</a:t>
            </a:r>
            <a:r>
              <a:rPr sz="1231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The area outside the contract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boundary showed the highest relative gain </a:t>
            </a:r>
            <a:r>
              <a:rPr sz="1231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nearly doubling the legacy</a:t>
            </a:r>
            <a:r>
              <a:rPr sz="1231" b="0" i="0">
                <a:solidFill>
                  <a:srgbClr val="F0F4F8"/>
                </a:solidFill>
                <a:latin typeface="DM Sans"/>
              </a:rPr>
              <a:t> estimate in that zone.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0007" y="4668440"/>
            <a:ext cx="1077069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0" i="0">
                <a:solidFill>
                  <a:srgbClr val="F0F4F8"/>
                </a:solidFill>
                <a:latin typeface="DM Sans"/>
              </a:rPr>
              <a:t>Uplift driven by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7076" y="4668440"/>
            <a:ext cx="2415778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1" i="0">
                <a:solidFill>
                  <a:srgbClr val="60A5FA"/>
                </a:solidFill>
                <a:latin typeface="DM Sans"/>
              </a:rPr>
              <a:t>shallower structure (+12 m GRV)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855" y="4668440"/>
            <a:ext cx="99030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0" i="0">
                <a:solidFill>
                  <a:srgbClr val="F0F4F8"/>
                </a:solidFill>
                <a:latin typeface="DM Sans"/>
              </a:rPr>
              <a:t> and improved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7475" y="4902993"/>
            <a:ext cx="333538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1" b="0" i="0">
                <a:solidFill>
                  <a:srgbClr val="F0F4F8"/>
                </a:solidFill>
                <a:latin typeface="DM Sans"/>
              </a:rPr>
              <a:t>reservoir quality from AI-guided facies modeling.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035" y="5470624"/>
            <a:ext cx="75009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1E6FA8"/>
                </a:solidFill>
                <a:latin typeface="Space Grotesk"/>
              </a:rPr>
              <a:t>KEY 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5678239"/>
            <a:ext cx="5127700" cy="5941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94A3B8"/>
                </a:solidFill>
                <a:latin typeface="DM Sans"/>
              </a:rPr>
              <a:t>The integrated 3D seismic and AI-guided modeling workflow delivered a</a:t>
            </a:r>
            <a:r>
              <a:rPr sz="1134" b="0" i="0">
                <a:solidFill>
                  <a:srgbClr val="94A3B8"/>
                </a:solidFill>
                <a:latin typeface="DM Sans"/>
              </a:rPr>
              <a:t> measurable uplift across all reservoir zones </a:t>
            </a:r>
            <a:r>
              <a:rPr sz="1134" b="0" i="0">
                <a:solidFill>
                  <a:srgbClr val="94A3B8"/>
                </a:solidFill>
                <a:latin typeface="Microsoft YaHei"/>
              </a:rPr>
              <a:t>— </a:t>
            </a:r>
            <a:r>
              <a:rPr sz="1134" b="0" i="0">
                <a:solidFill>
                  <a:srgbClr val="94A3B8"/>
                </a:solidFill>
                <a:latin typeface="DM Sans"/>
              </a:rPr>
              <a:t>demonstrating the value of data-</a:t>
            </a:r>
            <a:r>
              <a:rPr sz="1134" b="0" i="0">
                <a:solidFill>
                  <a:srgbClr val="94A3B8"/>
                </a:solidFill>
                <a:latin typeface="DM Sans"/>
              </a:rPr>
              <a:t> driven static model updates.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457200" y="1672976"/>
          <a:ext cx="5448300" cy="495300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4572000"/>
            <a:ext cx="22860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47625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857250"/>
            <a:ext cx="266700" cy="19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2152650"/>
            <a:ext cx="571500" cy="28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3171825"/>
            <a:ext cx="5524500" cy="657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225" y="3295650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425" y="3371850"/>
            <a:ext cx="1619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3952875"/>
            <a:ext cx="5524500" cy="657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225" y="4076700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425" y="414337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724400"/>
            <a:ext cx="5524500" cy="657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225" y="484822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3950" y="4924425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7250" y="5705475"/>
            <a:ext cx="1390650" cy="3714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275" y="5819775"/>
            <a:ext cx="12382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6500" y="5753100"/>
            <a:ext cx="9525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5330" y="800397"/>
            <a:ext cx="234910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00C9B1"/>
                </a:solidFill>
                <a:latin typeface="DM Sans"/>
              </a:rPr>
              <a:t>PORTFOLIO </a:t>
            </a:r>
            <a:r>
              <a:rPr sz="936" b="1" i="0">
                <a:solidFill>
                  <a:srgbClr val="00C9B1"/>
                </a:solidFill>
                <a:latin typeface="Microsoft YaHei"/>
              </a:rPr>
              <a:t>· </a:t>
            </a:r>
            <a:r>
              <a:rPr sz="936" b="1" i="0">
                <a:solidFill>
                  <a:srgbClr val="00C9B1"/>
                </a:solidFill>
                <a:latin typeface="DM Sans"/>
              </a:rPr>
              <a:t>SUBSURFACE SPECIALIST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1054893"/>
            <a:ext cx="2326778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0F4F8"/>
                </a:solidFill>
                <a:latin typeface="Space Grotesk"/>
              </a:rPr>
              <a:t>Let's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1534864"/>
            <a:ext cx="1988939" cy="581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C9B1"/>
                </a:solidFill>
                <a:latin typeface="Space Grotesk"/>
              </a:rPr>
              <a:t>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2433935"/>
            <a:ext cx="425216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4A3B8"/>
                </a:solidFill>
                <a:latin typeface="DM Sans"/>
              </a:rPr>
              <a:t>Specialist in Static Reservoir Modeling &amp; Seismic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2662535"/>
            <a:ext cx="340235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4A3B8"/>
                </a:solidFill>
                <a:latin typeface="DM Sans"/>
              </a:rPr>
              <a:t>Available for consulting, contract, or full-time roles.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0095" y="3300710"/>
            <a:ext cx="4703028" cy="3717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C9B1"/>
                </a:solidFill>
                <a:latin typeface="DM Sans"/>
              </a:rPr>
              <a:t>Open to consulting &amp; contract roles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 </a:t>
            </a:r>
            <a:r>
              <a:rPr sz="1139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flexible engagement across oil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 &amp; gas projects worldwide.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0095" y="4078485"/>
            <a:ext cx="3906946" cy="3717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C9B1"/>
                </a:solidFill>
                <a:latin typeface="DM Sans"/>
              </a:rPr>
              <a:t>Expertise in Petrel &amp; subsurface modeling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 </a:t>
            </a:r>
            <a:r>
              <a:rPr sz="1139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3D seismic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 interpretation, facies &amp; property modeling, GIIP volumetrics.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0095" y="4856261"/>
            <a:ext cx="4805273" cy="3717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0C9B1"/>
                </a:solidFill>
                <a:latin typeface="DM Sans"/>
              </a:rPr>
              <a:t>Proven track record: 6% GIIP uplift delivered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 </a:t>
            </a:r>
            <a:r>
              <a:rPr sz="1139" b="0" i="0">
                <a:solidFill>
                  <a:srgbClr val="F0F4F8"/>
                </a:solidFill>
                <a:latin typeface="Microsoft YaHei"/>
              </a:rPr>
              <a:t>— 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measurable gas-in-</a:t>
            </a:r>
            <a:r>
              <a:rPr sz="1139" b="0" i="0">
                <a:solidFill>
                  <a:srgbClr val="F0F4F8"/>
                </a:solidFill>
                <a:latin typeface="DM Sans"/>
              </a:rPr>
              <a:t> place increase confirmed across a 116 km² 3D seismic, 6-well field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3430" y="5807273"/>
            <a:ext cx="79846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0D1B2A"/>
                </a:solidFill>
                <a:latin typeface="Space Grotesk"/>
              </a:rPr>
              <a:t>GET IN TOUCH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6708" y="5726013"/>
            <a:ext cx="253320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DM Sans"/>
              </a:rPr>
              <a:t>Seismic AI Integration </a:t>
            </a:r>
            <a:r>
              <a:rPr sz="984" b="0" i="0">
                <a:solidFill>
                  <a:srgbClr val="94A3B8"/>
                </a:solidFill>
                <a:latin typeface="Microsoft YaHei"/>
              </a:rPr>
              <a:t>· 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Petrel Static Modeling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16708" y="5901035"/>
            <a:ext cx="261416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94A3B8"/>
                </a:solidFill>
                <a:latin typeface="DM Sans"/>
              </a:rPr>
              <a:t>Subsurface Characterization </a:t>
            </a:r>
            <a:r>
              <a:rPr sz="984" b="0" i="0">
                <a:solidFill>
                  <a:srgbClr val="94A3B8"/>
                </a:solidFill>
                <a:latin typeface="Microsoft YaHei"/>
              </a:rPr>
              <a:t>· </a:t>
            </a:r>
            <a:r>
              <a:rPr sz="984" b="0" i="0">
                <a:solidFill>
                  <a:srgbClr val="94A3B8"/>
                </a:solidFill>
                <a:latin typeface="DM Sans"/>
              </a:rPr>
              <a:t>GIIP Volumetrics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67900" y="6477000"/>
            <a:ext cx="57150" cy="571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99017" y="6450359"/>
            <a:ext cx="169768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0F4F8"/>
                </a:solidFill>
                <a:latin typeface="DM Sans"/>
              </a:rPr>
              <a:t>SUBSURFACE PORTFOLIO </a:t>
            </a:r>
            <a:r>
              <a:rPr sz="839" b="0" i="0">
                <a:solidFill>
                  <a:srgbClr val="F0F4F8"/>
                </a:solidFill>
                <a:latin typeface="Microsoft YaHei"/>
              </a:rPr>
              <a:t>· </a:t>
            </a:r>
            <a:r>
              <a:rPr sz="839" b="0" i="0">
                <a:solidFill>
                  <a:srgbClr val="F0F4F8"/>
                </a:solidFill>
                <a:latin typeface="DM Sans"/>
              </a:rPr>
              <a:t>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